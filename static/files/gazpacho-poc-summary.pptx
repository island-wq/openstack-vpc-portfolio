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2a7cdef5ec496c" /><Relationship Type="http://schemas.openxmlformats.org/officeDocument/2006/relationships/extended-properties" Target="/docProps/app.xml" Id="R13628eee8c9c421f" /><Relationship Type="http://schemas.openxmlformats.org/officeDocument/2006/relationships/officeDocument" Target="/ppt/presentation.xml" Id="R623ec65de21a4c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02d4622a3647a9"/>
  </p:sldMasterIdLst>
  <p:notesMasterIdLst>
    <p:notesMasterId xmlns:r="http://schemas.openxmlformats.org/officeDocument/2006/relationships" r:id="R85ce682f1cea4061"/>
  </p:notesMasterIdLst>
  <p:sldIdLst>
    <p:sldId xmlns:r="http://schemas.openxmlformats.org/officeDocument/2006/relationships" id="256" r:id="Refc72fa0167e4727"/>
    <p:sldId xmlns:r="http://schemas.openxmlformats.org/officeDocument/2006/relationships" id="257" r:id="R17a269a2af2c46a7"/>
    <p:sldId xmlns:r="http://schemas.openxmlformats.org/officeDocument/2006/relationships" id="258" r:id="Ra2118c404f984cdc"/>
    <p:sldId xmlns:r="http://schemas.openxmlformats.org/officeDocument/2006/relationships" id="259" r:id="R0904337100e94a1b"/>
    <p:sldId xmlns:r="http://schemas.openxmlformats.org/officeDocument/2006/relationships" id="260" r:id="R4a78eea18d0b42f3"/>
    <p:sldId xmlns:r="http://schemas.openxmlformats.org/officeDocument/2006/relationships" id="261" r:id="R4d5445d50a254aaa"/>
    <p:sldId xmlns:r="http://schemas.openxmlformats.org/officeDocument/2006/relationships" id="262" r:id="R6d6ad9efc8ef45ad"/>
    <p:sldId xmlns:r="http://schemas.openxmlformats.org/officeDocument/2006/relationships" id="263" r:id="R1b05586e91944c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df0057381c47e8" /><Relationship Type="http://schemas.openxmlformats.org/officeDocument/2006/relationships/slideMaster" Target="/ppt/slideMasters/slideMaster1.xml" Id="R0b02d4622a3647a9" /><Relationship Type="http://schemas.openxmlformats.org/officeDocument/2006/relationships/notesMaster" Target="/ppt/notesMasters/notesMaster1.xml" Id="R85ce682f1cea4061" /><Relationship Type="http://schemas.openxmlformats.org/officeDocument/2006/relationships/presProps" Target="/ppt/presProps.xml" Id="Ra91cce6996d54e58" /><Relationship Type="http://schemas.openxmlformats.org/officeDocument/2006/relationships/tableStyles" Target="/ppt/tableStyles.xml" Id="R63649b577b324e86" /><Relationship Type="http://schemas.openxmlformats.org/officeDocument/2006/relationships/slide" Target="/ppt/slides/slide1.xml" Id="Refc72fa0167e4727" /><Relationship Type="http://schemas.openxmlformats.org/officeDocument/2006/relationships/slide" Target="/ppt/slides/slide2.xml" Id="R17a269a2af2c46a7" /><Relationship Type="http://schemas.openxmlformats.org/officeDocument/2006/relationships/slide" Target="/ppt/slides/slide3.xml" Id="Ra2118c404f984cdc" /><Relationship Type="http://schemas.openxmlformats.org/officeDocument/2006/relationships/slide" Target="/ppt/slides/slide4.xml" Id="R0904337100e94a1b" /><Relationship Type="http://schemas.openxmlformats.org/officeDocument/2006/relationships/slide" Target="/ppt/slides/slide5.xml" Id="R4a78eea18d0b42f3" /><Relationship Type="http://schemas.openxmlformats.org/officeDocument/2006/relationships/slide" Target="/ppt/slides/slide6.xml" Id="R4d5445d50a254aaa" /><Relationship Type="http://schemas.openxmlformats.org/officeDocument/2006/relationships/slide" Target="/ppt/slides/slide7.xml" Id="R6d6ad9efc8ef45ad" /><Relationship Type="http://schemas.openxmlformats.org/officeDocument/2006/relationships/slide" Target="/ppt/slides/slide8.xml" Id="R1b05586e91944c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e3bfaa4c7349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f7300982454b17" /><Relationship Type="http://schemas.openxmlformats.org/officeDocument/2006/relationships/notesMaster" Target="/ppt/notesMasters/notesMaster1.xml" Id="R99327e991a3044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75c620fcf04429" /><Relationship Type="http://schemas.openxmlformats.org/officeDocument/2006/relationships/notesMaster" Target="/ppt/notesMasters/notesMaster1.xml" Id="Rf6f36b218b5d47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01e9a7b5b243ff" /><Relationship Type="http://schemas.openxmlformats.org/officeDocument/2006/relationships/notesMaster" Target="/ppt/notesMasters/notesMaster1.xml" Id="Rc566f212e99848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47e7aee78f4aa2" /><Relationship Type="http://schemas.openxmlformats.org/officeDocument/2006/relationships/notesMaster" Target="/ppt/notesMasters/notesMaster1.xml" Id="R497454013c844e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7ee767598249f7" /><Relationship Type="http://schemas.openxmlformats.org/officeDocument/2006/relationships/notesMaster" Target="/ppt/notesMasters/notesMaster1.xml" Id="Rf702582e458249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aa6b30f03b4029" /><Relationship Type="http://schemas.openxmlformats.org/officeDocument/2006/relationships/notesMaster" Target="/ppt/notesMasters/notesMaster1.xml" Id="R44ecef05758649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e861e1b5e64bea" /><Relationship Type="http://schemas.openxmlformats.org/officeDocument/2006/relationships/notesMaster" Target="/ppt/notesMasters/notesMaster1.xml" Id="R255d4feda9804f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e257eb1c064435" /><Relationship Type="http://schemas.openxmlformats.org/officeDocument/2006/relationships/notesMaster" Target="/ppt/notesMasters/notesMaster1.xml" Id="R7399415ccff941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첨부 Excel 시험표 v1.1 (2026-10-02), 첨부 PoC 결과 보고서 (자료명 기준 2026-09-30). 2026-10-05 원시 소요시간 대조 및 수치 정정. 신규 실환경 시험 부재.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첨부 Excel 시험표 v1.1 (2026-10-02), 첨부 PoC 결과 보고서 (자료명 기준 2026-09-30). 2026-10-05 원시 소요시간 대조 및 수치 정정. 신규 실환경 시험 부재.</a:t>
            </a:r>
          </a:p>
          <a:p xmlns:a="http://schemas.openxmlformats.org/drawingml/2006/main">
            <a:r>
              <a:t>Excel: 환경 및 설정, new)Gazpacho-TC-결과. PPT: 3·13·14번 슬라이드.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첨부 Excel 시험표 v1.1 (2026-10-02), 첨부 PoC 결과 보고서 (자료명 기준 2026-09-30). 2026-10-05 원시 소요시간 대조 및 수치 정정. 신규 실환경 시험 부재.</a:t>
            </a:r>
          </a:p>
          <a:p xmlns:a="http://schemas.openxmlformats.org/drawingml/2006/main">
            <a:r>
              <a:t>Excel: new)Gazpacho-TC-결과 J179:J193, J276:J285. PPT: 7번 슬라이드. 일반 부하 Gazpacho 기준 평균 198.8초 정정. 추가 볼륨 지표는 보고서 인용이며 독립 계측 근거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첨부 Excel 시험표 v1.1 (2026-10-02), 첨부 PoC 결과 보고서 (자료명 기준 2026-09-30). 2026-10-05 원시 소요시간 대조 및 수치 정정. 신규 실환경 시험 부재.</a:t>
            </a:r>
          </a:p>
          <a:p xmlns:a="http://schemas.openxmlformats.org/drawingml/2006/main">
            <a:r>
              <a:t>Excel: new)Gazpacho-TC-결과 J5:J24. PPT: 11·12번 슬라이드. 32GB 단일 VM, 채널별 5회, CPU 10%·MEM 50%. 8·16채널 최대시간 99·93초 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첨부 Excel 시험표 v1.1 (2026-10-02), 첨부 PoC 결과 보고서 (자료명 기준 2026-09-30). 2026-10-05 원시 소요시간 대조 및 수치 정정. 신규 실환경 시험 부재.</a:t>
            </a:r>
          </a:p>
          <a:p xmlns:a="http://schemas.openxmlformats.org/drawingml/2006/main">
            <a:r>
              <a:t>Excel: new)Gazpacho-TC-결과 J25:J29, J45:J99, J104:J173. 32GB 2·4채널 5회, 나머지 10회. 64GB 각 10회. 32GB 추가 2채널 J40:J44 평균 61.0초는 대표 계열과 별도 조건.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첨부 Excel 시험표 v1.1 (2026-10-02), 첨부 PoC 결과 보고서 (자료명 기준 2026-09-30). 2026-10-05 원시 소요시간 대조 및 수치 정정. 신규 실환경 시험 부재.</a:t>
            </a:r>
          </a:p>
          <a:p xmlns:a="http://schemas.openxmlformats.org/drawingml/2006/main">
            <a:r>
              <a:t>Excel: new)Gazpacho-TC-결과 J286:J325. c4m8d10 VM 6대, 채널별 10회, max_concurrent=1. J326:J365는 0초·미입력으로 제외.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첨부 Excel 시험표 v1.1 (2026-10-02), 첨부 PoC 결과 보고서 (자료명 기준 2026-09-30). 2026-10-05 원시 소요시간 대조 및 수치 정정. 신규 실환경 시험 부재.</a:t>
            </a:r>
          </a:p>
          <a:p xmlns:a="http://schemas.openxmlformats.org/drawingml/2006/main">
            <a:r>
              <a:t>Excel: new)Gazpacho-TC-결과 J369:J488, VM1 vs VM2 비교. max_concurrent=1. 채널별 10쌍. J409=68초, K409=20:25:04, L409=20:16:54의 시각 역전 기록 보존. A+B 지표는 기록된 J열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첨부 Excel 시험표 v1.1 (2026-10-02), 첨부 PoC 결과 보고서 (자료명 기준 2026-09-30). 2026-10-05 원시 소요시간 대조 및 수치 정정. 신규 실환경 시험 부재.</a:t>
            </a:r>
          </a:p>
          <a:p xmlns:a="http://schemas.openxmlformats.org/drawingml/2006/main">
            <a:r>
              <a:t>Nova 공식 문서: https://docs.openstack.org/nova/2026.1/configuration/config.html#max_concurrent_live_migrations</a:t>
            </a:r>
          </a:p>
          <a:p xmlns:a="http://schemas.openxmlformats.org/drawingml/2006/main">
            <a:r>
              <a:t>https://docs.openstack.org/nova/2026.1/configuration/config.html#libvirt.live_migration_parallel_connections</a:t>
            </a:r>
          </a:p>
          <a:p xmlns:a="http://schemas.openxmlformats.org/drawingml/2006/main">
            <a:r>
              <a:t>https://docs.openstack.org/releasenotes/nova/2026.1.html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cf99f2f0243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80abe22d974731" /><Relationship Type="http://schemas.openxmlformats.org/officeDocument/2006/relationships/slideLayout" Target="/ppt/slideLayouts/slideLayout1.xml" Id="R1f07554420cd47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07554420cd47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15d431274450e" /><Relationship Type="http://schemas.openxmlformats.org/officeDocument/2006/relationships/notesSlide" Target="/ppt/notesSlides/notesSlide1.xml" Id="R628e622e336740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7f4b044384553" /><Relationship Type="http://schemas.openxmlformats.org/officeDocument/2006/relationships/notesSlide" Target="/ppt/notesSlides/notesSlide2.xml" Id="R53732ef9525741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d576df3964449" /><Relationship Type="http://schemas.openxmlformats.org/officeDocument/2006/relationships/notesSlide" Target="/ppt/notesSlides/notesSlide3.xml" Id="Rc65425ebe4bd47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c05adbbc24992" /><Relationship Type="http://schemas.openxmlformats.org/officeDocument/2006/relationships/chart" Target="/ppt/slides/charts/chart1.xml" Id="R43b98b6c96d54405" /><Relationship Type="http://schemas.openxmlformats.org/officeDocument/2006/relationships/notesSlide" Target="/ppt/notesSlides/notesSlide4.xml" Id="R0d084cb5a82247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e354860a94f85" /><Relationship Type="http://schemas.openxmlformats.org/officeDocument/2006/relationships/chart" Target="/ppt/slides/charts/chart2.xml" Id="Rbd85807c2ec04e6c" /><Relationship Type="http://schemas.openxmlformats.org/officeDocument/2006/relationships/chart" Target="/ppt/slides/charts/chart3.xml" Id="Rbc9c2c915c814b52" /><Relationship Type="http://schemas.openxmlformats.org/officeDocument/2006/relationships/notesSlide" Target="/ppt/notesSlides/notesSlide5.xml" Id="R8c973446288d41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d3a6671cd492b" /><Relationship Type="http://schemas.openxmlformats.org/officeDocument/2006/relationships/chart" Target="/ppt/slides/charts/chart4.xml" Id="Ra09f6cc04d844d1c" /><Relationship Type="http://schemas.openxmlformats.org/officeDocument/2006/relationships/notesSlide" Target="/ppt/notesSlides/notesSlide6.xml" Id="Rbe27b5b6ba7743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cc447288d4c75" /><Relationship Type="http://schemas.openxmlformats.org/officeDocument/2006/relationships/chart" Target="/ppt/slides/charts/chart5.xml" Id="R73568664e4d84ccd" /><Relationship Type="http://schemas.openxmlformats.org/officeDocument/2006/relationships/notesSlide" Target="/ppt/notesSlides/notesSlide7.xml" Id="R088dca5b1ae24d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cc01a6fb2436e" /><Relationship Type="http://schemas.openxmlformats.org/officeDocument/2006/relationships/notesSlide" Target="/ppt/notesSlides/notesSlide8.xml" Id="Rc066c90472134af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평균</c:v>
          </c:tx>
          <c:spPr>
            <a:solidFill xmlns:a="http://schemas.openxmlformats.org/drawingml/2006/main">
              <a:srgbClr val="256B9E"/>
            </a:solidFill>
            <a:ln xmlns:a="http://schemas.openxmlformats.org/drawingml/2006/main" w="28575">
              <a:solidFill>
                <a:srgbClr val="256B9E"/>
              </a:solidFill>
              <a:prstDash val="solid"/>
            </a:ln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78.4</c:v>
                </c:pt>
                <c:pt idx="1">
                  <c:v>84.8</c:v>
                </c:pt>
                <c:pt idx="2">
                  <c:v>73.4</c:v>
                </c:pt>
                <c:pt idx="3">
                  <c:v>70.8</c:v>
                </c:pt>
              </c:numCache>
            </c:numRef>
          </c:val>
        </c:ser>
        <c:ser>
          <c:idx val="1"/>
          <c:order val="1"/>
          <c:tx>
            <c:v>최대</c:v>
          </c:tx>
          <c:spPr>
            <a:solidFill xmlns:a="http://schemas.openxmlformats.org/drawingml/2006/main">
              <a:srgbClr val="7B5BA7"/>
            </a:solidFill>
            <a:ln xmlns:a="http://schemas.openxmlformats.org/drawingml/2006/main" w="28575">
              <a:solidFill>
                <a:srgbClr val="7B5BA7"/>
              </a:solidFill>
              <a:prstDash val="solid"/>
            </a:ln>
          </c:spPr>
          <c:cat>
            <c:numRef>
              <c:f>'Chart Data'!$C$2:$C$5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90</c:v>
                </c:pt>
                <c:pt idx="1">
                  <c:v>152</c:v>
                </c:pt>
                <c:pt idx="2">
                  <c:v>99</c:v>
                </c:pt>
                <c:pt idx="3">
                  <c:v>93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7324D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546678"/>
                    </a:solidFill>
                    <a:latin typeface="Apple SD Gothic Neo"/>
                    <a:ea typeface="Apple SD Gothic Neo"/>
                    <a:cs typeface="Apple SD Gothic Neo"/>
                  </a:rPr>
                  <a:t>채널 수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546678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8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546678"/>
                    </a:solidFill>
                    <a:latin typeface="Apple SD Gothic Neo"/>
                    <a:ea typeface="Apple SD Gothic Neo"/>
                    <a:cs typeface="Apple SD Gothic Neo"/>
                  </a:rPr>
                  <a:t>소요시간 (초)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546678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3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7324D"/>
              </a:solidFill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32GB 평균</c:v>
          </c:tx>
          <c:spPr>
            <a:solidFill xmlns:a="http://schemas.openxmlformats.org/drawingml/2006/main">
              <a:srgbClr val="256B9E"/>
            </a:solidFill>
            <a:ln xmlns:a="http://schemas.openxmlformats.org/drawingml/2006/main" w="28575">
              <a:solidFill>
                <a:srgbClr val="25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B9E"/>
              </a:solidFill>
            </c:spPr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  <c:pt idx="5">
                  <c:v>64</c:v>
                </c:pt>
                <c:pt idx="6">
                  <c:v>128</c:v>
                </c:pt>
              </c:numCache>
            </c:num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48.4</c:v>
                </c:pt>
                <c:pt idx="1">
                  <c:v>40.8</c:v>
                </c:pt>
                <c:pt idx="2">
                  <c:v>28.7</c:v>
                </c:pt>
                <c:pt idx="3">
                  <c:v>27.1</c:v>
                </c:pt>
                <c:pt idx="4">
                  <c:v>32.9</c:v>
                </c:pt>
                <c:pt idx="5">
                  <c:v>34.4</c:v>
                </c:pt>
                <c:pt idx="6">
                  <c:v>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7324D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546678"/>
                    </a:solidFill>
                    <a:latin typeface="Apple SD Gothic Neo"/>
                    <a:ea typeface="Apple SD Gothic Neo"/>
                    <a:cs typeface="Apple SD Gothic Neo"/>
                  </a:rPr>
                  <a:t>채널 수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546678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8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546678"/>
                    </a:solidFill>
                    <a:latin typeface="Apple SD Gothic Neo"/>
                    <a:ea typeface="Apple SD Gothic Neo"/>
                    <a:cs typeface="Apple SD Gothic Neo"/>
                  </a:rPr>
                  <a:t>소요시간 (초)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546678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64GB 평균</c:v>
          </c:tx>
          <c:spPr>
            <a:solidFill xmlns:a="http://schemas.openxmlformats.org/drawingml/2006/main">
              <a:srgbClr val="256B9E"/>
            </a:solidFill>
            <a:ln xmlns:a="http://schemas.openxmlformats.org/drawingml/2006/main" w="28575">
              <a:solidFill>
                <a:srgbClr val="25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B9E"/>
              </a:solidFill>
            </c:spPr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  <c:pt idx="5">
                  <c:v>64</c:v>
                </c:pt>
                <c:pt idx="6">
                  <c:v>128</c:v>
                </c:pt>
              </c:numCache>
            </c:num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238.8</c:v>
                </c:pt>
                <c:pt idx="1">
                  <c:v>212.9</c:v>
                </c:pt>
                <c:pt idx="2">
                  <c:v>148</c:v>
                </c:pt>
                <c:pt idx="3">
                  <c:v>80.1</c:v>
                </c:pt>
                <c:pt idx="4">
                  <c:v>82.6</c:v>
                </c:pt>
                <c:pt idx="5">
                  <c:v>81.2</c:v>
                </c:pt>
                <c:pt idx="6">
                  <c:v>141.7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7324D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546678"/>
                    </a:solidFill>
                    <a:latin typeface="Apple SD Gothic Neo"/>
                    <a:ea typeface="Apple SD Gothic Neo"/>
                    <a:cs typeface="Apple SD Gothic Neo"/>
                  </a:rPr>
                  <a:t>채널 수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546678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3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8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546678"/>
                    </a:solidFill>
                    <a:latin typeface="Apple SD Gothic Neo"/>
                    <a:ea typeface="Apple SD Gothic Neo"/>
                    <a:cs typeface="Apple SD Gothic Neo"/>
                  </a:rPr>
                  <a:t>소요시간 (초)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546678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6VM 평균</c:v>
          </c:tx>
          <c:spPr>
            <a:solidFill xmlns:a="http://schemas.openxmlformats.org/drawingml/2006/main">
              <a:srgbClr val="256B9E"/>
            </a:solidFill>
            <a:ln xmlns:a="http://schemas.openxmlformats.org/drawingml/2006/main" w="28575">
              <a:solidFill>
                <a:srgbClr val="256B9E"/>
              </a:solidFill>
              <a:prstDash val="solid"/>
            </a:ln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numCache>
            </c:num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167.7</c:v>
                </c:pt>
                <c:pt idx="1">
                  <c:v>164.8</c:v>
                </c:pt>
                <c:pt idx="2">
                  <c:v>161.8</c:v>
                </c:pt>
                <c:pt idx="3">
                  <c:v>160.1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7324D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546678"/>
                    </a:solidFill>
                    <a:latin typeface="Apple SD Gothic Neo"/>
                    <a:ea typeface="Apple SD Gothic Neo"/>
                    <a:cs typeface="Apple SD Gothic Neo"/>
                  </a:rPr>
                  <a:t>채널 수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546678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8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546678"/>
                    </a:solidFill>
                    <a:latin typeface="Apple SD Gothic Neo"/>
                    <a:ea typeface="Apple SD Gothic Neo"/>
                    <a:cs typeface="Apple SD Gothic Neo"/>
                  </a:rPr>
                  <a:t>소요시간 (초)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546678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A+B 합산 평균</c:v>
          </c:tx>
          <c:spPr>
            <a:solidFill xmlns:a="http://schemas.openxmlformats.org/drawingml/2006/main">
              <a:srgbClr val="256B9E"/>
            </a:solidFill>
            <a:ln xmlns:a="http://schemas.openxmlformats.org/drawingml/2006/main" w="28575">
              <a:solidFill>
                <a:srgbClr val="256B9E"/>
              </a:solidFill>
              <a:prstDash val="solid"/>
            </a:ln>
          </c:spPr>
          <c:cat>
            <c:numRef>
              <c:f>'Chart Data'!$A$2:$A$7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  <c:pt idx="5">
                  <c:v>64</c:v>
                </c:pt>
              </c:numCache>
            </c:num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159.7</c:v>
                </c:pt>
                <c:pt idx="1">
                  <c:v>78.6</c:v>
                </c:pt>
                <c:pt idx="2">
                  <c:v>72.2</c:v>
                </c:pt>
                <c:pt idx="3">
                  <c:v>59.7</c:v>
                </c:pt>
                <c:pt idx="4">
                  <c:v>61.5</c:v>
                </c:pt>
                <c:pt idx="5">
                  <c:v>63.9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7324D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546678"/>
                    </a:solidFill>
                    <a:latin typeface="Apple SD Gothic Neo"/>
                    <a:ea typeface="Apple SD Gothic Neo"/>
                    <a:cs typeface="Apple SD Gothic Neo"/>
                  </a:rPr>
                  <a:t>채널 수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546678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8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546678"/>
                    </a:solidFill>
                    <a:latin typeface="Apple SD Gothic Neo"/>
                    <a:ea typeface="Apple SD Gothic Neo"/>
                    <a:cs typeface="Apple SD Gothic Neo"/>
                  </a:rPr>
                  <a:t>소요시간 (초)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546678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F5485-9ED7-441E-87D5-45245D2F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Parallel LiveMigration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OpenStack Gazpacho PoC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17BCC-E035-46D9-B8C1-5B5A54C3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8E4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D8E4EF"/>
                </a:solidFill>
                <a:latin typeface="Apple SD Gothic Neo"/>
                <a:ea typeface="Apple SD Gothic Neo"/>
                <a:cs typeface="Apple SD Gothic Neo"/>
              </a:rPr>
              <a:t>10G 단일 링크 · LACP 20G 시험 결과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0A5BE-C28B-4CDB-9332-7769C018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8E4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D8E4EF"/>
                </a:solidFill>
                <a:latin typeface="Apple SD Gothic Neo"/>
                <a:ea typeface="Apple SD Gothic Neo"/>
                <a:cs typeface="Apple SD Gothic Neo"/>
              </a:rPr>
              <a:t>Assist@IS MyPortfolio</a:t>
            </a:r>
          </a:p>
          <a:p xmlns:a="http://schemas.openxmlformats.org/drawingml/2006/main">
            <a:pPr>
              <a:defRPr sz="1950" b="0">
                <a:solidFill>
                  <a:srgbClr val="D8E4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D8E4EF"/>
                </a:solidFill>
                <a:latin typeface="Apple SD Gothic Neo"/>
                <a:ea typeface="Apple SD Gothic Neo"/>
                <a:cs typeface="Apple SD Gothic Neo"/>
              </a:rPr>
              <a:t>2026.10.05  수치 대조·정정 반영</a:t>
            </a:r>
          </a:p>
        </p:txBody>
      </p:sp>
    </p:spTree>
    <p:extLst>
      <p:ext uri="{BB962C8B-B14F-4D97-AF65-F5344CB8AC3E}">
        <p14:creationId xmlns:p14="http://schemas.microsoft.com/office/powerpoint/2010/main" val="1454125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A1F02-1D08-4E53-8E9F-7716D1E6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시험 환경과 비교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A4A48-B56C-4D4C-85FB-5B43DDA2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3409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6682"/>
                <a:gridCol w="4303059"/>
                <a:gridCol w="4303059"/>
              </a:tblGrid>
              <a:tr h="568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항목</a:t>
                      </a:r>
                    </a:p>
                  </a:txBody>
                  <a:tcPr marL="133350" marR="133350" marT="95250" marB="952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1차 10G</a:t>
                      </a:r>
                    </a:p>
                  </a:txBody>
                  <a:tcPr marL="133350" marR="133350" marT="95250" marB="952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2차 LACP 20G</a:t>
                      </a:r>
                    </a:p>
                  </a:txBody>
                  <a:tcPr marL="133350" marR="133350" marT="95250" marB="95250" anchor="ctr">
                    <a:solidFill>
                      <a:srgbClr val="17324D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노드 구성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Controller + Compute 3대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Controller + Compute 3대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호스트 메모리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256 / 64 / 64GB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128 / 128 / 128GB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Migration 경로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10G 단일 링크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10G × 2, LACP 해시 3+4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Gazpacho 런타임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Nova 33.0.3 / QEMU 10.1.0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동일 버전 기록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대형 VM 실측 부하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CPU 10% / MEM 50%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CPU 10% / MEM 50%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89A3F-577F-444E-A874-E53240E5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76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네트워크와 호스트 메모리 동시 변경에 따른 비교 조건 차이 존재</a:t>
            </a:r>
          </a:p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max_concurrent: VM 작업 수, parallel_connections: VM별 전송 연결 수 구분 필요</a:t>
            </a:r>
          </a:p>
        </p:txBody>
      </p:sp>
    </p:spTree>
    <p:extLst>
      <p:ext uri="{BB962C8B-B14F-4D97-AF65-F5344CB8AC3E}">
        <p14:creationId xmlns:p14="http://schemas.microsoft.com/office/powerpoint/2010/main" val="2887191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ED16C-E1FA-4566-8790-84ECEDFF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다중 VM 동시 이관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B70D0-3CC5-476E-8531-691A463D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81048"/>
                <a:gridCol w="2459421"/>
                <a:gridCol w="2648607"/>
                <a:gridCol w="3783724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동시 작업 수</a:t>
                      </a:r>
                    </a:p>
                  </a:txBody>
                  <a:tcPr marL="133350" marR="133350" marT="95250" marB="952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Epoxy 일반</a:t>
                      </a:r>
                    </a:p>
                  </a:txBody>
                  <a:tcPr marL="133350" marR="133350" marT="95250" marB="952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Gazpacho 일반</a:t>
                      </a:r>
                    </a:p>
                  </a:txBody>
                  <a:tcPr marL="133350" marR="133350" marT="95250" marB="952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Gazpacho 추가 볼륨</a:t>
                      </a:r>
                    </a:p>
                  </a:txBody>
                  <a:tcPr marL="133350" marR="133350" marT="95250" marB="95250" anchor="ctr">
                    <a:solidFill>
                      <a:srgbClr val="17324D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163.6초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198.8초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238.4초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64.4초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65.2초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104.4초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49.2초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45.6초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62.6초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3FCF7-FCBC-45F9-8B37-36894E2B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76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Gazpacho 일반 부하: 동시성 1 대비 6에서 평균 약 77.1% 단축 확인</a:t>
            </a:r>
          </a:p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추가 볼륨 조건: Drop 0 / 976 / 3,299건·초 기록, 원시 계측 근거 재확인 필요</a:t>
            </a:r>
          </a:p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동시 작업 수 확대에 따른 처리시간·서비스 영향의 동시 검토 필요</a:t>
            </a:r>
          </a:p>
        </p:txBody>
      </p:sp>
    </p:spTree>
    <p:extLst>
      <p:ext uri="{BB962C8B-B14F-4D97-AF65-F5344CB8AC3E}">
        <p14:creationId xmlns:p14="http://schemas.microsoft.com/office/powerpoint/2010/main" val="18443308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E0D1B-D6F0-48FB-BCB7-6C20151F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10G 단일 링크의 채널별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3817A-26A7-42E2-B1E8-73D114AD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b98b6c96d5440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EDA4E-1915-402D-B425-6AB8A657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76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32GB VM 1대, 채널별 5회 평균·최대 소요시간 적용</a:t>
            </a:r>
          </a:p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NIC Peak 9.40~9.61Gbps 기록. 1채널 기준 시험 부재</a:t>
            </a:r>
          </a:p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16채널 평균 70.8초 확인. 링크 포화·부하 영향의 추가 분리 검증 필요</a:t>
            </a:r>
          </a:p>
        </p:txBody>
      </p:sp>
    </p:spTree>
    <p:extLst>
      <p:ext uri="{BB962C8B-B14F-4D97-AF65-F5344CB8AC3E}">
        <p14:creationId xmlns:p14="http://schemas.microsoft.com/office/powerpoint/2010/main" val="20998630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65184-2CB4-466C-97B4-8FFD79AE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LACP 20G 단일 VM의 채널별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C7745-9B30-482C-82A5-15295F2B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D6564-480B-42D8-B225-5E0752AD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32GB VM 1대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335DF-72EA-49A1-8A77-A1EFD243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144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64GB VM 1대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5295900" cy="3086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85807c2ec04e6c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286500" y="1847850"/>
          <a:ext xmlns:a="http://schemas.openxmlformats.org/drawingml/2006/main" cx="5295900" cy="3086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9c2c915c814b5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76F8C-49AE-4256-9BF1-03C34E5D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76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16채널 최저 평균: 32GB 27.1초 / 64GB 80.1초 확인</a:t>
            </a:r>
          </a:p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2채널 대비 평균 단축률: 32GB 약 44.0% / 64GB 약 66.5% 확인</a:t>
            </a:r>
          </a:p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64GB 16채널 범위 25~222초. 평균값과 반복 변동성의 동시 평가 필요</a:t>
            </a:r>
          </a:p>
        </p:txBody>
      </p:sp>
    </p:spTree>
    <p:extLst>
      <p:ext uri="{BB962C8B-B14F-4D97-AF65-F5344CB8AC3E}">
        <p14:creationId xmlns:p14="http://schemas.microsoft.com/office/powerpoint/2010/main" val="11628312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B063D-89A6-4BEE-A59E-9545D618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소형 VM 6대의 채널별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C1611-C0EC-4A87-98AF-C8649CBA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409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9f6cc04d844d1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A26AE-2113-4F48-8386-48E21C6B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76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c4m8d10 VM 6대, max_concurrent=1, 채널별 10회 집계 적용</a:t>
            </a:r>
          </a:p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1채널 167.7초 대비 8채널 160.1초, 약 4.5% 단축 확인</a:t>
            </a:r>
          </a:p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16채널 이상 유효 기록 부재. 소형 VM 조건의 다른 병목 계측 필요</a:t>
            </a:r>
          </a:p>
        </p:txBody>
      </p:sp>
    </p:spTree>
    <p:extLst>
      <p:ext uri="{BB962C8B-B14F-4D97-AF65-F5344CB8AC3E}">
        <p14:creationId xmlns:p14="http://schemas.microsoft.com/office/powerpoint/2010/main" val="10043379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16A25-CF7C-43CF-BEBD-5F588840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32GB VM 2대의 A+B 합산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7225C-8C08-47CB-B9D3-187F6C22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568664e4d84cc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799B5-91D5-464B-A68D-62A44759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76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max_concurrent=1 및 A 종료 후 B 시작 기록 확인. 실제 동시 수행 근거 부재</a:t>
            </a:r>
          </a:p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합산 평균 16채널 59.7초 확인. 작업 간 대기시간 제외</a:t>
            </a:r>
          </a:p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8채널 기록 중 시각 역전 1건 존재. 소요시간 기준 집계·시각 재확인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361995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118F3-8183-4EE1-9B51-509E9AFB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운영 적용 후보와 후속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23921-378C-4AD2-9803-59D5BD9E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8778240"/>
              </a:tblGrid>
              <a:tr h="5746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영역</a:t>
                      </a:r>
                    </a:p>
                  </a:txBody>
                  <a:tcPr marL="133350" marR="133350" marT="95250" marB="952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검토 기준</a:t>
                      </a:r>
                    </a:p>
                  </a:txBody>
                  <a:tcPr marL="133350" marR="133350" marT="95250" marB="95250" anchor="ctr">
                    <a:solidFill>
                      <a:srgbClr val="17324D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설정 후보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LACP 20G 대형 VM 8~16채널 우선 검토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성능 판정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평균·최대·변동성 및 실제 작업 경과시간 동시 평가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 영향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실측 다운타임·응답 지연·Drop의 추가 확인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원인 분석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CPU 사용률·dirty page·멀티FD·LACP 분산 계측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증거 보완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동일 호스트 조건 및 실제 VM 동시성 재시험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B4047-E519-4597-9A78-C15F2500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76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500ms는 다운타임 설정값. 실측 서비스 중단시간 근거 부재</a:t>
            </a:r>
          </a:p>
          <a:p xmlns:a="http://schemas.openxmlformats.org/drawingml/2006/main">
            <a:pPr>
              <a:def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46678"/>
                </a:solidFill>
                <a:latin typeface="Apple SD Gothic Neo"/>
                <a:ea typeface="Apple SD Gothic Neo"/>
                <a:cs typeface="Apple SD Gothic Neo"/>
              </a:rPr>
              <a:t>보고서 수치·차트 정정 반영. 신규 실환경 재시험 부재</a:t>
            </a:r>
          </a:p>
        </p:txBody>
      </p:sp>
    </p:spTree>
    <p:extLst>
      <p:ext uri="{BB962C8B-B14F-4D97-AF65-F5344CB8AC3E}">
        <p14:creationId xmlns:p14="http://schemas.microsoft.com/office/powerpoint/2010/main" val="112262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2026-10-05T13:35:22.9040000Z</dcterms:created>
  <dcterms:modified xsi:type="dcterms:W3CDTF">2026-10-05T13:35:22.9040000Z</dcterms:modified>
</coreProperties>
</file>